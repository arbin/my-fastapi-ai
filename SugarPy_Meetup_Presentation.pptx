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x="18288000" cy="10287000"/>
  <p:notesSz cx="6858000" cy="9144000"/>
  <p:embeddedFontLst>
    <p:embeddedFont>
      <p:font typeface="Open Sans 2" charset="1" panose="00000000000000000000"/>
      <p:regular r:id="rId13"/>
    </p:embeddedFont>
    <p:embeddedFont>
      <p:font typeface="Open Sans 1 Bold" charset="1" panose="020B0806030504020204"/>
      <p:regular r:id="rId14"/>
    </p:embeddedFont>
    <p:embeddedFont>
      <p:font typeface="HK Modular" charset="1" panose="00000800000000000000"/>
      <p:regular r:id="rId15"/>
    </p:embeddedFont>
    <p:embeddedFont>
      <p:font typeface="Open Sans 1" charset="1" panose="020B0606030504020204"/>
      <p:regular r:id="rId1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fonts/font13.fntdata" Type="http://schemas.openxmlformats.org/officeDocument/2006/relationships/font"/><Relationship Id="rId14" Target="fonts/font14.fntdata" Type="http://schemas.openxmlformats.org/officeDocument/2006/relationships/font"/><Relationship Id="rId15" Target="fonts/font15.fntdata" Type="http://schemas.openxmlformats.org/officeDocument/2006/relationships/font"/><Relationship Id="rId16" Target="fonts/font16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jpe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3.jpeg" Type="http://schemas.openxmlformats.org/officeDocument/2006/relationships/image"/><Relationship Id="rId4" Target="../media/image4.jpe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jpe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6.jpeg" Type="http://schemas.openxmlformats.org/officeDocument/2006/relationships/image"/><Relationship Id="rId4" Target="../media/image7.jpeg" Type="http://schemas.openxmlformats.org/officeDocument/2006/relationships/image"/><Relationship Id="rId5" Target="../media/image8.jpe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9.jpeg" Type="http://schemas.openxmlformats.org/officeDocument/2006/relationships/image"/><Relationship Id="rId4" Target="../media/image10.jpe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11.png" Type="http://schemas.openxmlformats.org/officeDocument/2006/relationships/image"/><Relationship Id="rId4" Target="../media/image12.svg" Type="http://schemas.openxmlformats.org/officeDocument/2006/relationships/image"/><Relationship Id="rId5" Target="../media/image13.jpe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14.jpe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212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3086100" y="5143500"/>
            <a:ext cx="8229600" cy="8229600"/>
          </a:xfrm>
          <a:custGeom>
            <a:avLst/>
            <a:gdLst/>
            <a:ahLst/>
            <a:cxnLst/>
            <a:rect r="r" b="b" t="t" l="l"/>
            <a:pathLst>
              <a:path h="8229600" w="8229600">
                <a:moveTo>
                  <a:pt x="0" y="0"/>
                </a:moveTo>
                <a:lnTo>
                  <a:pt x="8229600" y="0"/>
                </a:lnTo>
                <a:lnTo>
                  <a:pt x="8229600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5000"/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3144500" y="-3086100"/>
            <a:ext cx="8229600" cy="8229600"/>
          </a:xfrm>
          <a:custGeom>
            <a:avLst/>
            <a:gdLst/>
            <a:ahLst/>
            <a:cxnLst/>
            <a:rect r="r" b="b" t="t" l="l"/>
            <a:pathLst>
              <a:path h="8229600" w="8229600">
                <a:moveTo>
                  <a:pt x="0" y="0"/>
                </a:moveTo>
                <a:lnTo>
                  <a:pt x="8229600" y="0"/>
                </a:lnTo>
                <a:lnTo>
                  <a:pt x="8229600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5000"/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17488106" y="9502973"/>
            <a:ext cx="402082" cy="402082"/>
            <a:chOff x="0" y="0"/>
            <a:chExt cx="812800" cy="8128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ABDB2A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28575"/>
              <a:ext cx="812800" cy="8413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39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0" y="2179624"/>
            <a:ext cx="7937971" cy="5927751"/>
            <a:chOff x="0" y="0"/>
            <a:chExt cx="10583961" cy="7903668"/>
          </a:xfrm>
        </p:grpSpPr>
        <p:pic>
          <p:nvPicPr>
            <p:cNvPr name="Picture 8" id="8"/>
            <p:cNvPicPr>
              <a:picLocks noChangeAspect="true"/>
            </p:cNvPicPr>
            <p:nvPr/>
          </p:nvPicPr>
          <p:blipFill>
            <a:blip r:embed="rId3"/>
            <a:srcRect l="3316" t="3979" r="16928" b="6683"/>
            <a:stretch>
              <a:fillRect/>
            </a:stretch>
          </p:blipFill>
          <p:spPr>
            <a:xfrm flipH="false" flipV="false">
              <a:off x="0" y="0"/>
              <a:ext cx="10583961" cy="7903668"/>
            </a:xfrm>
            <a:prstGeom prst="rect">
              <a:avLst/>
            </a:prstGeom>
          </p:spPr>
        </p:pic>
      </p:grpSp>
      <p:sp>
        <p:nvSpPr>
          <p:cNvPr name="TextBox 9" id="9"/>
          <p:cNvSpPr txBox="true"/>
          <p:nvPr/>
        </p:nvSpPr>
        <p:spPr>
          <a:xfrm rot="0">
            <a:off x="16030399" y="9595504"/>
            <a:ext cx="1379782" cy="1981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680"/>
              </a:lnSpc>
              <a:spcBef>
                <a:spcPct val="0"/>
              </a:spcBef>
            </a:pPr>
            <a:r>
              <a:rPr lang="en-US" sz="1200" spc="655">
                <a:solidFill>
                  <a:srgbClr val="FFFFFF"/>
                </a:solidFill>
                <a:latin typeface="Open Sans 2"/>
                <a:ea typeface="Open Sans 2"/>
                <a:cs typeface="Open Sans 2"/>
                <a:sym typeface="Open Sans 2"/>
              </a:rPr>
              <a:t>SLIDE 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7488106" y="9595504"/>
            <a:ext cx="402082" cy="1981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80"/>
              </a:lnSpc>
              <a:spcBef>
                <a:spcPct val="0"/>
              </a:spcBef>
            </a:pPr>
            <a:r>
              <a:rPr lang="en-US" b="true" sz="1200">
                <a:solidFill>
                  <a:srgbClr val="121212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01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0" y="6548209"/>
            <a:ext cx="782032" cy="3118333"/>
            <a:chOff x="0" y="0"/>
            <a:chExt cx="556429" cy="2218746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556429" cy="2218746"/>
            </a:xfrm>
            <a:custGeom>
              <a:avLst/>
              <a:gdLst/>
              <a:ahLst/>
              <a:cxnLst/>
              <a:rect r="r" b="b" t="t" l="l"/>
              <a:pathLst>
                <a:path h="2218746" w="556429">
                  <a:moveTo>
                    <a:pt x="0" y="0"/>
                  </a:moveTo>
                  <a:lnTo>
                    <a:pt x="556429" y="0"/>
                  </a:lnTo>
                  <a:lnTo>
                    <a:pt x="556429" y="2218746"/>
                  </a:lnTo>
                  <a:lnTo>
                    <a:pt x="0" y="2218746"/>
                  </a:lnTo>
                  <a:close/>
                </a:path>
              </a:pathLst>
            </a:custGeom>
            <a:solidFill>
              <a:srgbClr val="ABDB2A">
                <a:alpha val="74902"/>
              </a:srgbClr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28575"/>
              <a:ext cx="556429" cy="224732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39"/>
                </a:lnSpc>
              </a:pPr>
            </a:p>
          </p:txBody>
        </p:sp>
      </p:grpSp>
      <p:sp>
        <p:nvSpPr>
          <p:cNvPr name="TextBox 14" id="14"/>
          <p:cNvSpPr txBox="true"/>
          <p:nvPr/>
        </p:nvSpPr>
        <p:spPr>
          <a:xfrm rot="0">
            <a:off x="10670331" y="1992412"/>
            <a:ext cx="6588969" cy="2644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000"/>
              </a:lnSpc>
              <a:spcBef>
                <a:spcPct val="0"/>
              </a:spcBef>
            </a:pPr>
            <a:r>
              <a:rPr lang="en-US" sz="5000">
                <a:solidFill>
                  <a:srgbClr val="FFFFFF"/>
                </a:solidFill>
                <a:latin typeface="HK Modular"/>
                <a:ea typeface="HK Modular"/>
                <a:cs typeface="HK Modular"/>
                <a:sym typeface="HK Modular"/>
              </a:rPr>
              <a:t>Building with FastAPI + OpenAI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0670331" y="5113191"/>
            <a:ext cx="6049959" cy="6134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39"/>
              </a:lnSpc>
              <a:spcBef>
                <a:spcPct val="0"/>
              </a:spcBef>
            </a:pPr>
            <a:r>
              <a:rPr lang="en-US" sz="3599">
                <a:solidFill>
                  <a:srgbClr val="FFFFFF"/>
                </a:solidFill>
                <a:latin typeface="Open Sans 1"/>
                <a:ea typeface="Open Sans 1"/>
                <a:cs typeface="Open Sans 1"/>
                <a:sym typeface="Open Sans 1"/>
              </a:rPr>
              <a:t>SugarPy Meetup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0670331" y="6319609"/>
            <a:ext cx="6049959" cy="10191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99"/>
              </a:lnSpc>
              <a:spcBef>
                <a:spcPct val="0"/>
              </a:spcBef>
            </a:pPr>
            <a:r>
              <a:rPr lang="en-US" sz="2999">
                <a:solidFill>
                  <a:srgbClr val="FFFFFF"/>
                </a:solidFill>
                <a:latin typeface="Open Sans 1"/>
                <a:ea typeface="Open Sans 1"/>
                <a:cs typeface="Open Sans 1"/>
                <a:sym typeface="Open Sans 1"/>
              </a:rPr>
              <a:t>Presenter: Arbin Bulaybulay, Senior Full Stack SE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212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3086100" y="5143500"/>
            <a:ext cx="8229600" cy="8229600"/>
          </a:xfrm>
          <a:custGeom>
            <a:avLst/>
            <a:gdLst/>
            <a:ahLst/>
            <a:cxnLst/>
            <a:rect r="r" b="b" t="t" l="l"/>
            <a:pathLst>
              <a:path h="8229600" w="8229600">
                <a:moveTo>
                  <a:pt x="0" y="0"/>
                </a:moveTo>
                <a:lnTo>
                  <a:pt x="8229600" y="0"/>
                </a:lnTo>
                <a:lnTo>
                  <a:pt x="8229600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5000"/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7488106" y="9502973"/>
            <a:ext cx="402082" cy="402082"/>
            <a:chOff x="0" y="0"/>
            <a:chExt cx="812800" cy="8128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ABDB2A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28575"/>
              <a:ext cx="812800" cy="8413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3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3686739" y="0"/>
            <a:ext cx="4601261" cy="7702881"/>
            <a:chOff x="0" y="0"/>
            <a:chExt cx="3273873" cy="5480727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3273873" cy="5480727"/>
            </a:xfrm>
            <a:custGeom>
              <a:avLst/>
              <a:gdLst/>
              <a:ahLst/>
              <a:cxnLst/>
              <a:rect r="r" b="b" t="t" l="l"/>
              <a:pathLst>
                <a:path h="5480727" w="3273873">
                  <a:moveTo>
                    <a:pt x="0" y="0"/>
                  </a:moveTo>
                  <a:lnTo>
                    <a:pt x="3273873" y="0"/>
                  </a:lnTo>
                  <a:lnTo>
                    <a:pt x="3273873" y="5480727"/>
                  </a:lnTo>
                  <a:lnTo>
                    <a:pt x="0" y="5480727"/>
                  </a:lnTo>
                  <a:close/>
                </a:path>
              </a:pathLst>
            </a:custGeom>
            <a:solidFill>
              <a:srgbClr val="ABDB2A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28575"/>
              <a:ext cx="3273873" cy="550930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39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0700814" y="1731709"/>
            <a:ext cx="5971851" cy="4915002"/>
            <a:chOff x="0" y="0"/>
            <a:chExt cx="7962468" cy="6553336"/>
          </a:xfrm>
        </p:grpSpPr>
        <p:pic>
          <p:nvPicPr>
            <p:cNvPr name="Picture 10" id="10"/>
            <p:cNvPicPr>
              <a:picLocks noChangeAspect="true"/>
            </p:cNvPicPr>
            <p:nvPr/>
          </p:nvPicPr>
          <p:blipFill>
            <a:blip r:embed="rId3"/>
            <a:srcRect l="9524" t="0" r="9524" b="0"/>
            <a:stretch>
              <a:fillRect/>
            </a:stretch>
          </p:blipFill>
          <p:spPr>
            <a:xfrm flipH="false" flipV="false">
              <a:off x="0" y="0"/>
              <a:ext cx="7962468" cy="6553336"/>
            </a:xfrm>
            <a:prstGeom prst="rect">
              <a:avLst/>
            </a:prstGeom>
          </p:spPr>
        </p:pic>
      </p:grpSp>
      <p:grpSp>
        <p:nvGrpSpPr>
          <p:cNvPr name="Group 11" id="11"/>
          <p:cNvGrpSpPr/>
          <p:nvPr/>
        </p:nvGrpSpPr>
        <p:grpSpPr>
          <a:xfrm rot="0">
            <a:off x="10700814" y="6850470"/>
            <a:ext cx="5971851" cy="1704821"/>
            <a:chOff x="0" y="0"/>
            <a:chExt cx="7962468" cy="2273094"/>
          </a:xfrm>
        </p:grpSpPr>
        <p:pic>
          <p:nvPicPr>
            <p:cNvPr name="Picture 12" id="12"/>
            <p:cNvPicPr>
              <a:picLocks noChangeAspect="true"/>
            </p:cNvPicPr>
            <p:nvPr/>
          </p:nvPicPr>
          <p:blipFill>
            <a:blip r:embed="rId4"/>
            <a:srcRect l="0" t="29681" r="0" b="27469"/>
            <a:stretch>
              <a:fillRect/>
            </a:stretch>
          </p:blipFill>
          <p:spPr>
            <a:xfrm flipH="false" flipV="false">
              <a:off x="0" y="0"/>
              <a:ext cx="7962468" cy="2273094"/>
            </a:xfrm>
            <a:prstGeom prst="rect">
              <a:avLst/>
            </a:prstGeom>
          </p:spPr>
        </p:pic>
      </p:grpSp>
      <p:grpSp>
        <p:nvGrpSpPr>
          <p:cNvPr name="Group 13" id="13"/>
          <p:cNvGrpSpPr/>
          <p:nvPr/>
        </p:nvGrpSpPr>
        <p:grpSpPr>
          <a:xfrm rot="0">
            <a:off x="10309798" y="1276167"/>
            <a:ext cx="782032" cy="3118333"/>
            <a:chOff x="0" y="0"/>
            <a:chExt cx="556429" cy="2218746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556429" cy="2218746"/>
            </a:xfrm>
            <a:custGeom>
              <a:avLst/>
              <a:gdLst/>
              <a:ahLst/>
              <a:cxnLst/>
              <a:rect r="r" b="b" t="t" l="l"/>
              <a:pathLst>
                <a:path h="2218746" w="556429">
                  <a:moveTo>
                    <a:pt x="0" y="0"/>
                  </a:moveTo>
                  <a:lnTo>
                    <a:pt x="556429" y="0"/>
                  </a:lnTo>
                  <a:lnTo>
                    <a:pt x="556429" y="2218746"/>
                  </a:lnTo>
                  <a:lnTo>
                    <a:pt x="0" y="2218746"/>
                  </a:lnTo>
                  <a:close/>
                </a:path>
              </a:pathLst>
            </a:custGeom>
            <a:solidFill>
              <a:srgbClr val="ABDB2A">
                <a:alpha val="74902"/>
              </a:srgbClr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28575"/>
              <a:ext cx="556429" cy="224732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39"/>
                </a:lnSpc>
              </a:pP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944265" y="4693191"/>
            <a:ext cx="1618141" cy="99952"/>
            <a:chOff x="0" y="0"/>
            <a:chExt cx="1151334" cy="71118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151334" cy="71118"/>
            </a:xfrm>
            <a:custGeom>
              <a:avLst/>
              <a:gdLst/>
              <a:ahLst/>
              <a:cxnLst/>
              <a:rect r="r" b="b" t="t" l="l"/>
              <a:pathLst>
                <a:path h="71118" w="1151334">
                  <a:moveTo>
                    <a:pt x="0" y="0"/>
                  </a:moveTo>
                  <a:lnTo>
                    <a:pt x="1151334" y="0"/>
                  </a:lnTo>
                  <a:lnTo>
                    <a:pt x="1151334" y="71118"/>
                  </a:lnTo>
                  <a:lnTo>
                    <a:pt x="0" y="71118"/>
                  </a:lnTo>
                  <a:close/>
                </a:path>
              </a:pathLst>
            </a:custGeom>
            <a:solidFill>
              <a:srgbClr val="ABDB2A"/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28575"/>
              <a:ext cx="1151334" cy="9969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39"/>
                </a:lnSpc>
              </a:pPr>
            </a:p>
          </p:txBody>
        </p:sp>
      </p:grpSp>
      <p:sp>
        <p:nvSpPr>
          <p:cNvPr name="TextBox 19" id="19"/>
          <p:cNvSpPr txBox="true"/>
          <p:nvPr/>
        </p:nvSpPr>
        <p:spPr>
          <a:xfrm rot="0">
            <a:off x="16030399" y="9595504"/>
            <a:ext cx="1379782" cy="1981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680"/>
              </a:lnSpc>
              <a:spcBef>
                <a:spcPct val="0"/>
              </a:spcBef>
            </a:pPr>
            <a:r>
              <a:rPr lang="en-US" sz="1200" spc="655">
                <a:solidFill>
                  <a:srgbClr val="FFFFFF"/>
                </a:solidFill>
                <a:latin typeface="Open Sans 2"/>
                <a:ea typeface="Open Sans 2"/>
                <a:cs typeface="Open Sans 2"/>
                <a:sym typeface="Open Sans 2"/>
              </a:rPr>
              <a:t>SLIDE 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7488106" y="9595504"/>
            <a:ext cx="402082" cy="1981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80"/>
              </a:lnSpc>
              <a:spcBef>
                <a:spcPct val="0"/>
              </a:spcBef>
            </a:pPr>
            <a:r>
              <a:rPr lang="en-US" b="true" sz="1200">
                <a:solidFill>
                  <a:srgbClr val="121212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02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944265" y="1698059"/>
            <a:ext cx="6922007" cy="1758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000"/>
              </a:lnSpc>
              <a:spcBef>
                <a:spcPct val="0"/>
              </a:spcBef>
            </a:pPr>
            <a:r>
              <a:rPr lang="en-US" sz="5000">
                <a:solidFill>
                  <a:srgbClr val="FFFFFF"/>
                </a:solidFill>
                <a:latin typeface="HK Modular"/>
                <a:ea typeface="HK Modular"/>
                <a:cs typeface="HK Modular"/>
                <a:sym typeface="HK Modular"/>
              </a:rPr>
              <a:t>Why Python, Not Java?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163480" y="5239164"/>
            <a:ext cx="2904211" cy="22237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82"/>
              </a:lnSpc>
              <a:spcBef>
                <a:spcPct val="0"/>
              </a:spcBef>
            </a:pPr>
            <a:r>
              <a:rPr lang="en-US" sz="3201">
                <a:solidFill>
                  <a:srgbClr val="FFFFFF"/>
                </a:solidFill>
                <a:latin typeface="Open Sans 1"/>
                <a:ea typeface="Open Sans 1"/>
                <a:cs typeface="Open Sans 1"/>
                <a:sym typeface="Open Sans 1"/>
              </a:rPr>
              <a:t>Python is simple, flexible, and concise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028700" y="8960802"/>
            <a:ext cx="14424625" cy="5378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79"/>
              </a:lnSpc>
              <a:spcBef>
                <a:spcPct val="0"/>
              </a:spcBef>
            </a:pPr>
            <a:r>
              <a:rPr lang="en-US" sz="3199">
                <a:solidFill>
                  <a:srgbClr val="FFFFFF"/>
                </a:solidFill>
                <a:latin typeface="Open Sans 1"/>
                <a:ea typeface="Open Sans 1"/>
                <a:cs typeface="Open Sans 1"/>
                <a:sym typeface="Open Sans 1"/>
              </a:rPr>
              <a:t>👉 “Python thrives in speed and simplicity where Java lags in verbosity.”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4195431" y="5239164"/>
            <a:ext cx="2904211" cy="22237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82"/>
              </a:lnSpc>
              <a:spcBef>
                <a:spcPct val="0"/>
              </a:spcBef>
            </a:pPr>
            <a:r>
              <a:rPr lang="en-US" sz="3201">
                <a:solidFill>
                  <a:srgbClr val="FFFFFF"/>
                </a:solidFill>
                <a:latin typeface="Open Sans 1"/>
                <a:ea typeface="Open Sans 1"/>
                <a:cs typeface="Open Sans 1"/>
                <a:sym typeface="Open Sans 1"/>
              </a:rPr>
              <a:t>Rich ecosystem for AI, ML, and data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7553217" y="5239164"/>
            <a:ext cx="2904211" cy="10997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482"/>
              </a:lnSpc>
              <a:spcBef>
                <a:spcPct val="0"/>
              </a:spcBef>
            </a:pPr>
            <a:r>
              <a:rPr lang="en-US" sz="3201">
                <a:solidFill>
                  <a:srgbClr val="FFFFFF"/>
                </a:solidFill>
                <a:latin typeface="Open Sans 1"/>
                <a:ea typeface="Open Sans 1"/>
                <a:cs typeface="Open Sans 1"/>
                <a:sym typeface="Open Sans 1"/>
              </a:rPr>
              <a:t>Faster prototyping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212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700" y="6275909"/>
            <a:ext cx="17259300" cy="4011091"/>
            <a:chOff x="0" y="0"/>
            <a:chExt cx="23012400" cy="5348122"/>
          </a:xfrm>
        </p:grpSpPr>
        <p:pic>
          <p:nvPicPr>
            <p:cNvPr name="Picture 3" id="3"/>
            <p:cNvPicPr>
              <a:picLocks noChangeAspect="true"/>
            </p:cNvPicPr>
            <p:nvPr/>
          </p:nvPicPr>
          <p:blipFill>
            <a:blip r:embed="rId2"/>
            <a:srcRect l="0" t="28886" r="0" b="36231"/>
            <a:stretch>
              <a:fillRect/>
            </a:stretch>
          </p:blipFill>
          <p:spPr>
            <a:xfrm flipH="false" flipV="false">
              <a:off x="0" y="0"/>
              <a:ext cx="23012400" cy="5348122"/>
            </a:xfrm>
            <a:prstGeom prst="rect">
              <a:avLst/>
            </a:prstGeom>
          </p:spPr>
        </p:pic>
      </p:grpSp>
      <p:grpSp>
        <p:nvGrpSpPr>
          <p:cNvPr name="Group 4" id="4"/>
          <p:cNvGrpSpPr/>
          <p:nvPr/>
        </p:nvGrpSpPr>
        <p:grpSpPr>
          <a:xfrm rot="0">
            <a:off x="17488106" y="363496"/>
            <a:ext cx="402082" cy="402082"/>
            <a:chOff x="0" y="0"/>
            <a:chExt cx="812800" cy="8128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ABDB2A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28575"/>
              <a:ext cx="812800" cy="8413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39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0" y="6275909"/>
            <a:ext cx="1028700" cy="4011091"/>
            <a:chOff x="0" y="0"/>
            <a:chExt cx="208454" cy="8128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08454" cy="812800"/>
            </a:xfrm>
            <a:custGeom>
              <a:avLst/>
              <a:gdLst/>
              <a:ahLst/>
              <a:cxnLst/>
              <a:rect r="r" b="b" t="t" l="l"/>
              <a:pathLst>
                <a:path h="812800" w="208454">
                  <a:moveTo>
                    <a:pt x="0" y="0"/>
                  </a:moveTo>
                  <a:lnTo>
                    <a:pt x="208454" y="0"/>
                  </a:lnTo>
                  <a:lnTo>
                    <a:pt x="208454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ABDB2A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28575"/>
              <a:ext cx="208454" cy="8413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39"/>
                </a:lnSpc>
              </a:pPr>
            </a:p>
          </p:txBody>
        </p:sp>
      </p:grpSp>
      <p:sp>
        <p:nvSpPr>
          <p:cNvPr name="TextBox 10" id="10"/>
          <p:cNvSpPr txBox="true"/>
          <p:nvPr/>
        </p:nvSpPr>
        <p:spPr>
          <a:xfrm rot="0">
            <a:off x="16030399" y="456026"/>
            <a:ext cx="1379782" cy="1981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680"/>
              </a:lnSpc>
              <a:spcBef>
                <a:spcPct val="0"/>
              </a:spcBef>
            </a:pPr>
            <a:r>
              <a:rPr lang="en-US" sz="1200" spc="655">
                <a:solidFill>
                  <a:srgbClr val="FFFFFF"/>
                </a:solidFill>
                <a:latin typeface="Open Sans 2"/>
                <a:ea typeface="Open Sans 2"/>
                <a:cs typeface="Open Sans 2"/>
                <a:sym typeface="Open Sans 2"/>
              </a:rPr>
              <a:t>SLIDE 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7488106" y="456026"/>
            <a:ext cx="402082" cy="1981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80"/>
              </a:lnSpc>
              <a:spcBef>
                <a:spcPct val="0"/>
              </a:spcBef>
            </a:pPr>
            <a:r>
              <a:rPr lang="en-US" b="true" sz="1200">
                <a:solidFill>
                  <a:srgbClr val="121212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03</a:t>
            </a:r>
          </a:p>
        </p:txBody>
      </p:sp>
      <p:grpSp>
        <p:nvGrpSpPr>
          <p:cNvPr name="Group 12" id="12"/>
          <p:cNvGrpSpPr/>
          <p:nvPr/>
        </p:nvGrpSpPr>
        <p:grpSpPr>
          <a:xfrm rot="-5400000">
            <a:off x="16337817" y="4716742"/>
            <a:ext cx="782032" cy="3118333"/>
            <a:chOff x="0" y="0"/>
            <a:chExt cx="556429" cy="2218746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556429" cy="2218746"/>
            </a:xfrm>
            <a:custGeom>
              <a:avLst/>
              <a:gdLst/>
              <a:ahLst/>
              <a:cxnLst/>
              <a:rect r="r" b="b" t="t" l="l"/>
              <a:pathLst>
                <a:path h="2218746" w="556429">
                  <a:moveTo>
                    <a:pt x="0" y="0"/>
                  </a:moveTo>
                  <a:lnTo>
                    <a:pt x="556429" y="0"/>
                  </a:lnTo>
                  <a:lnTo>
                    <a:pt x="556429" y="2218746"/>
                  </a:lnTo>
                  <a:lnTo>
                    <a:pt x="0" y="2218746"/>
                  </a:lnTo>
                  <a:close/>
                </a:path>
              </a:pathLst>
            </a:custGeom>
            <a:solidFill>
              <a:srgbClr val="ABDB2A">
                <a:alpha val="74902"/>
              </a:srgbClr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28575"/>
              <a:ext cx="556429" cy="224732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39"/>
                </a:lnSpc>
              </a:pPr>
            </a:p>
          </p:txBody>
        </p:sp>
      </p:grpSp>
      <p:sp>
        <p:nvSpPr>
          <p:cNvPr name="TextBox 15" id="15"/>
          <p:cNvSpPr txBox="true"/>
          <p:nvPr/>
        </p:nvSpPr>
        <p:spPr>
          <a:xfrm rot="0">
            <a:off x="1844841" y="1714881"/>
            <a:ext cx="6588969" cy="2644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000"/>
              </a:lnSpc>
              <a:spcBef>
                <a:spcPct val="0"/>
              </a:spcBef>
            </a:pPr>
            <a:r>
              <a:rPr lang="en-US" sz="5000">
                <a:solidFill>
                  <a:srgbClr val="FFFFFF"/>
                </a:solidFill>
                <a:latin typeface="HK Modular"/>
                <a:ea typeface="HK Modular"/>
                <a:cs typeface="HK Modular"/>
                <a:sym typeface="HK Modular"/>
              </a:rPr>
              <a:t>How Long Will Python Live?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1844841" y="4581892"/>
            <a:ext cx="1618141" cy="99952"/>
            <a:chOff x="0" y="0"/>
            <a:chExt cx="1151334" cy="71118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151334" cy="71118"/>
            </a:xfrm>
            <a:custGeom>
              <a:avLst/>
              <a:gdLst/>
              <a:ahLst/>
              <a:cxnLst/>
              <a:rect r="r" b="b" t="t" l="l"/>
              <a:pathLst>
                <a:path h="71118" w="1151334">
                  <a:moveTo>
                    <a:pt x="0" y="0"/>
                  </a:moveTo>
                  <a:lnTo>
                    <a:pt x="1151334" y="0"/>
                  </a:lnTo>
                  <a:lnTo>
                    <a:pt x="1151334" y="71118"/>
                  </a:lnTo>
                  <a:lnTo>
                    <a:pt x="0" y="71118"/>
                  </a:lnTo>
                  <a:close/>
                </a:path>
              </a:pathLst>
            </a:custGeom>
            <a:solidFill>
              <a:srgbClr val="ABDB2A"/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28575"/>
              <a:ext cx="1151334" cy="9969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39"/>
                </a:lnSpc>
              </a:pPr>
            </a:p>
          </p:txBody>
        </p:sp>
      </p:grpSp>
      <p:sp>
        <p:nvSpPr>
          <p:cNvPr name="TextBox 19" id="19"/>
          <p:cNvSpPr txBox="true"/>
          <p:nvPr/>
        </p:nvSpPr>
        <p:spPr>
          <a:xfrm rot="0">
            <a:off x="8462649" y="1644482"/>
            <a:ext cx="8796651" cy="35839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26102" indent="-313051" lvl="1">
              <a:lnSpc>
                <a:spcPts val="4059"/>
              </a:lnSpc>
              <a:buFont typeface="Arial"/>
              <a:buChar char="•"/>
            </a:pPr>
            <a:r>
              <a:rPr lang="en-US" sz="2899">
                <a:solidFill>
                  <a:srgbClr val="FFFFFF"/>
                </a:solidFill>
                <a:latin typeface="Open Sans 1"/>
                <a:ea typeface="Open Sans 1"/>
                <a:cs typeface="Open Sans 1"/>
                <a:sym typeface="Open Sans 1"/>
              </a:rPr>
              <a:t>Python has been around 30+ years</a:t>
            </a:r>
          </a:p>
          <a:p>
            <a:pPr algn="l" marL="626102" indent="-313051" lvl="1">
              <a:lnSpc>
                <a:spcPts val="4059"/>
              </a:lnSpc>
              <a:buFont typeface="Arial"/>
              <a:buChar char="•"/>
            </a:pPr>
            <a:r>
              <a:rPr lang="en-US" sz="2899">
                <a:solidFill>
                  <a:srgbClr val="FFFFFF"/>
                </a:solidFill>
                <a:latin typeface="Open Sans 1"/>
                <a:ea typeface="Open Sans 1"/>
                <a:cs typeface="Open Sans 1"/>
                <a:sym typeface="Open Sans 1"/>
              </a:rPr>
              <a:t>Strong support from open-source + enterprises</a:t>
            </a:r>
          </a:p>
          <a:p>
            <a:pPr algn="l" marL="626102" indent="-313051" lvl="1">
              <a:lnSpc>
                <a:spcPts val="4059"/>
              </a:lnSpc>
              <a:buFont typeface="Arial"/>
              <a:buChar char="•"/>
            </a:pPr>
            <a:r>
              <a:rPr lang="en-US" sz="2899">
                <a:solidFill>
                  <a:srgbClr val="FFFFFF"/>
                </a:solidFill>
                <a:latin typeface="Open Sans 1"/>
                <a:ea typeface="Open Sans 1"/>
                <a:cs typeface="Open Sans 1"/>
                <a:sym typeface="Open Sans 1"/>
              </a:rPr>
              <a:t>Used in: AI, ML, Data Science, Web Dev, Automation</a:t>
            </a:r>
          </a:p>
          <a:p>
            <a:pPr algn="l" marL="626102" indent="-313051" lvl="1">
              <a:lnSpc>
                <a:spcPts val="4059"/>
              </a:lnSpc>
              <a:buFont typeface="Arial"/>
              <a:buChar char="•"/>
            </a:pPr>
            <a:r>
              <a:rPr lang="en-US" sz="2899">
                <a:solidFill>
                  <a:srgbClr val="FFFFFF"/>
                </a:solidFill>
                <a:latin typeface="Open Sans 1"/>
                <a:ea typeface="Open Sans 1"/>
                <a:cs typeface="Open Sans 1"/>
                <a:sym typeface="Open Sans 1"/>
              </a:rPr>
              <a:t>As long as AI &amp; Data dominate → Python will thrive</a:t>
            </a:r>
          </a:p>
          <a:p>
            <a:pPr algn="l">
              <a:lnSpc>
                <a:spcPts val="4059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212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3086100" y="5143500"/>
            <a:ext cx="8229600" cy="8229600"/>
          </a:xfrm>
          <a:custGeom>
            <a:avLst/>
            <a:gdLst/>
            <a:ahLst/>
            <a:cxnLst/>
            <a:rect r="r" b="b" t="t" l="l"/>
            <a:pathLst>
              <a:path h="8229600" w="8229600">
                <a:moveTo>
                  <a:pt x="0" y="0"/>
                </a:moveTo>
                <a:lnTo>
                  <a:pt x="8229600" y="0"/>
                </a:lnTo>
                <a:lnTo>
                  <a:pt x="8229600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5000"/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3144500" y="-3086100"/>
            <a:ext cx="8229600" cy="8229600"/>
          </a:xfrm>
          <a:custGeom>
            <a:avLst/>
            <a:gdLst/>
            <a:ahLst/>
            <a:cxnLst/>
            <a:rect r="r" b="b" t="t" l="l"/>
            <a:pathLst>
              <a:path h="8229600" w="8229600">
                <a:moveTo>
                  <a:pt x="0" y="0"/>
                </a:moveTo>
                <a:lnTo>
                  <a:pt x="8229600" y="0"/>
                </a:lnTo>
                <a:lnTo>
                  <a:pt x="8229600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5000"/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17488106" y="9502973"/>
            <a:ext cx="402082" cy="402082"/>
            <a:chOff x="0" y="0"/>
            <a:chExt cx="812800" cy="8128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ABDB2A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28575"/>
              <a:ext cx="812800" cy="8413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39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768700" y="1835375"/>
            <a:ext cx="3308125" cy="3308125"/>
            <a:chOff x="0" y="0"/>
            <a:chExt cx="4410833" cy="4410833"/>
          </a:xfrm>
        </p:grpSpPr>
        <p:pic>
          <p:nvPicPr>
            <p:cNvPr name="Picture 8" id="8"/>
            <p:cNvPicPr>
              <a:picLocks noChangeAspect="true"/>
            </p:cNvPicPr>
            <p:nvPr/>
          </p:nvPicPr>
          <p:blipFill>
            <a:blip r:embed="rId3"/>
            <a:srcRect l="19623" t="5333" r="17186" b="0"/>
            <a:stretch>
              <a:fillRect/>
            </a:stretch>
          </p:blipFill>
          <p:spPr>
            <a:xfrm flipH="false" flipV="false">
              <a:off x="0" y="0"/>
              <a:ext cx="4410833" cy="4410833"/>
            </a:xfrm>
            <a:prstGeom prst="rect">
              <a:avLst/>
            </a:prstGeom>
          </p:spPr>
        </p:pic>
      </p:grpSp>
      <p:grpSp>
        <p:nvGrpSpPr>
          <p:cNvPr name="Group 9" id="9"/>
          <p:cNvGrpSpPr/>
          <p:nvPr/>
        </p:nvGrpSpPr>
        <p:grpSpPr>
          <a:xfrm rot="0">
            <a:off x="1768700" y="5143500"/>
            <a:ext cx="3308125" cy="3308125"/>
            <a:chOff x="0" y="0"/>
            <a:chExt cx="812800" cy="8128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ABDB2A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28575"/>
              <a:ext cx="812800" cy="8413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39"/>
                </a:lnSpc>
              </a:pPr>
            </a:p>
          </p:txBody>
        </p:sp>
      </p:grpSp>
      <p:sp>
        <p:nvSpPr>
          <p:cNvPr name="TextBox 12" id="12"/>
          <p:cNvSpPr txBox="true"/>
          <p:nvPr/>
        </p:nvSpPr>
        <p:spPr>
          <a:xfrm rot="0">
            <a:off x="16030399" y="9595504"/>
            <a:ext cx="1379782" cy="1981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680"/>
              </a:lnSpc>
              <a:spcBef>
                <a:spcPct val="0"/>
              </a:spcBef>
            </a:pPr>
            <a:r>
              <a:rPr lang="en-US" sz="1200" spc="655">
                <a:solidFill>
                  <a:srgbClr val="FFFFFF"/>
                </a:solidFill>
                <a:latin typeface="Open Sans 2"/>
                <a:ea typeface="Open Sans 2"/>
                <a:cs typeface="Open Sans 2"/>
                <a:sym typeface="Open Sans 2"/>
              </a:rPr>
              <a:t>SLIDE 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7550367" y="9595504"/>
            <a:ext cx="277560" cy="1981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80"/>
              </a:lnSpc>
              <a:spcBef>
                <a:spcPct val="0"/>
              </a:spcBef>
            </a:pPr>
            <a:r>
              <a:rPr lang="en-US" b="true" sz="1200">
                <a:solidFill>
                  <a:srgbClr val="121212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04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5076825" y="1835375"/>
            <a:ext cx="3308125" cy="3308125"/>
            <a:chOff x="0" y="0"/>
            <a:chExt cx="4410833" cy="4410833"/>
          </a:xfrm>
        </p:grpSpPr>
        <p:pic>
          <p:nvPicPr>
            <p:cNvPr name="Picture 15" id="15"/>
            <p:cNvPicPr>
              <a:picLocks noChangeAspect="true"/>
            </p:cNvPicPr>
            <p:nvPr/>
          </p:nvPicPr>
          <p:blipFill>
            <a:blip r:embed="rId4"/>
            <a:srcRect l="33333" t="0" r="0" b="0"/>
            <a:stretch>
              <a:fillRect/>
            </a:stretch>
          </p:blipFill>
          <p:spPr>
            <a:xfrm flipH="false" flipV="false">
              <a:off x="0" y="0"/>
              <a:ext cx="4410833" cy="4410833"/>
            </a:xfrm>
            <a:prstGeom prst="rect">
              <a:avLst/>
            </a:prstGeom>
          </p:spPr>
        </p:pic>
      </p:grpSp>
      <p:grpSp>
        <p:nvGrpSpPr>
          <p:cNvPr name="Group 16" id="16"/>
          <p:cNvGrpSpPr/>
          <p:nvPr/>
        </p:nvGrpSpPr>
        <p:grpSpPr>
          <a:xfrm rot="0">
            <a:off x="5076825" y="5143500"/>
            <a:ext cx="3308125" cy="3308125"/>
            <a:chOff x="0" y="0"/>
            <a:chExt cx="4410833" cy="4410833"/>
          </a:xfrm>
        </p:grpSpPr>
        <p:pic>
          <p:nvPicPr>
            <p:cNvPr name="Picture 17" id="17"/>
            <p:cNvPicPr>
              <a:picLocks noChangeAspect="true"/>
            </p:cNvPicPr>
            <p:nvPr/>
          </p:nvPicPr>
          <p:blipFill>
            <a:blip r:embed="rId5"/>
            <a:srcRect l="6911" t="0" r="26421" b="0"/>
            <a:stretch>
              <a:fillRect/>
            </a:stretch>
          </p:blipFill>
          <p:spPr>
            <a:xfrm flipH="false" flipV="false">
              <a:off x="0" y="0"/>
              <a:ext cx="4410833" cy="4410833"/>
            </a:xfrm>
            <a:prstGeom prst="rect">
              <a:avLst/>
            </a:prstGeom>
          </p:spPr>
        </p:pic>
      </p:grpSp>
      <p:grpSp>
        <p:nvGrpSpPr>
          <p:cNvPr name="Group 18" id="18"/>
          <p:cNvGrpSpPr/>
          <p:nvPr/>
        </p:nvGrpSpPr>
        <p:grpSpPr>
          <a:xfrm rot="0">
            <a:off x="7993934" y="0"/>
            <a:ext cx="782032" cy="3118333"/>
            <a:chOff x="0" y="0"/>
            <a:chExt cx="556429" cy="2218746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556429" cy="2218746"/>
            </a:xfrm>
            <a:custGeom>
              <a:avLst/>
              <a:gdLst/>
              <a:ahLst/>
              <a:cxnLst/>
              <a:rect r="r" b="b" t="t" l="l"/>
              <a:pathLst>
                <a:path h="2218746" w="556429">
                  <a:moveTo>
                    <a:pt x="0" y="0"/>
                  </a:moveTo>
                  <a:lnTo>
                    <a:pt x="556429" y="0"/>
                  </a:lnTo>
                  <a:lnTo>
                    <a:pt x="556429" y="2218746"/>
                  </a:lnTo>
                  <a:lnTo>
                    <a:pt x="0" y="2218746"/>
                  </a:lnTo>
                  <a:close/>
                </a:path>
              </a:pathLst>
            </a:custGeom>
            <a:solidFill>
              <a:srgbClr val="ABDB2A">
                <a:alpha val="74902"/>
              </a:srgbClr>
            </a:solid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28575"/>
              <a:ext cx="556429" cy="224732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39"/>
                </a:lnSpc>
              </a:pPr>
            </a:p>
          </p:txBody>
        </p:sp>
      </p:grpSp>
      <p:sp>
        <p:nvSpPr>
          <p:cNvPr name="TextBox 21" id="21"/>
          <p:cNvSpPr txBox="true"/>
          <p:nvPr/>
        </p:nvSpPr>
        <p:spPr>
          <a:xfrm rot="0">
            <a:off x="10131321" y="1749650"/>
            <a:ext cx="6588969" cy="2371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300"/>
              </a:lnSpc>
              <a:spcBef>
                <a:spcPct val="0"/>
              </a:spcBef>
            </a:pPr>
            <a:r>
              <a:rPr lang="en-US" sz="4500">
                <a:solidFill>
                  <a:srgbClr val="FFFFFF"/>
                </a:solidFill>
                <a:latin typeface="HK Modular"/>
                <a:ea typeface="HK Modular"/>
                <a:cs typeface="HK Modular"/>
                <a:sym typeface="HK Modular"/>
              </a:rPr>
              <a:t>Opportunities for Python Developers</a:t>
            </a:r>
          </a:p>
        </p:txBody>
      </p:sp>
      <p:grpSp>
        <p:nvGrpSpPr>
          <p:cNvPr name="Group 22" id="22"/>
          <p:cNvGrpSpPr/>
          <p:nvPr/>
        </p:nvGrpSpPr>
        <p:grpSpPr>
          <a:xfrm rot="0">
            <a:off x="10131321" y="4487019"/>
            <a:ext cx="1618141" cy="99952"/>
            <a:chOff x="0" y="0"/>
            <a:chExt cx="1151334" cy="71118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151334" cy="71118"/>
            </a:xfrm>
            <a:custGeom>
              <a:avLst/>
              <a:gdLst/>
              <a:ahLst/>
              <a:cxnLst/>
              <a:rect r="r" b="b" t="t" l="l"/>
              <a:pathLst>
                <a:path h="71118" w="1151334">
                  <a:moveTo>
                    <a:pt x="0" y="0"/>
                  </a:moveTo>
                  <a:lnTo>
                    <a:pt x="1151334" y="0"/>
                  </a:lnTo>
                  <a:lnTo>
                    <a:pt x="1151334" y="71118"/>
                  </a:lnTo>
                  <a:lnTo>
                    <a:pt x="0" y="71118"/>
                  </a:lnTo>
                  <a:close/>
                </a:path>
              </a:pathLst>
            </a:custGeom>
            <a:solidFill>
              <a:srgbClr val="ABDB2A"/>
            </a:solid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28575"/>
              <a:ext cx="1151334" cy="9969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39"/>
                </a:lnSpc>
              </a:pPr>
            </a:p>
          </p:txBody>
        </p:sp>
      </p:grpSp>
      <p:sp>
        <p:nvSpPr>
          <p:cNvPr name="TextBox 25" id="25"/>
          <p:cNvSpPr txBox="true"/>
          <p:nvPr/>
        </p:nvSpPr>
        <p:spPr>
          <a:xfrm rot="0">
            <a:off x="9869813" y="5448300"/>
            <a:ext cx="7680554" cy="33223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82924" indent="-291462" lvl="1">
              <a:lnSpc>
                <a:spcPts val="3779"/>
              </a:lnSpc>
              <a:buFont typeface="Arial"/>
              <a:buChar char="•"/>
            </a:pPr>
            <a:r>
              <a:rPr lang="en-US" sz="2699">
                <a:solidFill>
                  <a:srgbClr val="FFFFFF"/>
                </a:solidFill>
                <a:latin typeface="Open Sans 1"/>
                <a:ea typeface="Open Sans 1"/>
                <a:cs typeface="Open Sans 1"/>
                <a:sym typeface="Open Sans 1"/>
              </a:rPr>
              <a:t>AI/ML &amp; Data Science</a:t>
            </a:r>
          </a:p>
          <a:p>
            <a:pPr algn="l" marL="582924" indent="-291462" lvl="1">
              <a:lnSpc>
                <a:spcPts val="3779"/>
              </a:lnSpc>
              <a:buFont typeface="Arial"/>
              <a:buChar char="•"/>
            </a:pPr>
            <a:r>
              <a:rPr lang="en-US" sz="2699">
                <a:solidFill>
                  <a:srgbClr val="FFFFFF"/>
                </a:solidFill>
                <a:latin typeface="Open Sans 1"/>
                <a:ea typeface="Open Sans 1"/>
                <a:cs typeface="Open Sans 1"/>
                <a:sym typeface="Open Sans 1"/>
              </a:rPr>
              <a:t>Web Development (FastAPI, Django, Flask)</a:t>
            </a:r>
          </a:p>
          <a:p>
            <a:pPr algn="l" marL="582924" indent="-291462" lvl="1">
              <a:lnSpc>
                <a:spcPts val="3779"/>
              </a:lnSpc>
              <a:buFont typeface="Arial"/>
              <a:buChar char="•"/>
            </a:pPr>
            <a:r>
              <a:rPr lang="en-US" sz="2699">
                <a:solidFill>
                  <a:srgbClr val="FFFFFF"/>
                </a:solidFill>
                <a:latin typeface="Open Sans 1"/>
                <a:ea typeface="Open Sans 1"/>
                <a:cs typeface="Open Sans 1"/>
                <a:sym typeface="Open Sans 1"/>
              </a:rPr>
              <a:t>Automation &amp; Scripting</a:t>
            </a:r>
          </a:p>
          <a:p>
            <a:pPr algn="l" marL="582924" indent="-291462" lvl="1">
              <a:lnSpc>
                <a:spcPts val="3779"/>
              </a:lnSpc>
              <a:buFont typeface="Arial"/>
              <a:buChar char="•"/>
            </a:pPr>
            <a:r>
              <a:rPr lang="en-US" sz="2699">
                <a:solidFill>
                  <a:srgbClr val="FFFFFF"/>
                </a:solidFill>
                <a:latin typeface="Open Sans 1"/>
                <a:ea typeface="Open Sans 1"/>
                <a:cs typeface="Open Sans 1"/>
                <a:sym typeface="Open Sans 1"/>
              </a:rPr>
              <a:t>Cloud/DevOps (Ansible, Terraform, AWS SDKs)</a:t>
            </a:r>
          </a:p>
          <a:p>
            <a:pPr algn="l" marL="582924" indent="-291462" lvl="1">
              <a:lnSpc>
                <a:spcPts val="3779"/>
              </a:lnSpc>
              <a:buFont typeface="Arial"/>
              <a:buChar char="•"/>
            </a:pPr>
            <a:r>
              <a:rPr lang="en-US" sz="2699">
                <a:solidFill>
                  <a:srgbClr val="FFFFFF"/>
                </a:solidFill>
                <a:latin typeface="Open Sans 1"/>
                <a:ea typeface="Open Sans 1"/>
                <a:cs typeface="Open Sans 1"/>
                <a:sym typeface="Open Sans 1"/>
              </a:rPr>
              <a:t>PropTech, FinTech, HealthTech, EduTech</a:t>
            </a:r>
          </a:p>
          <a:p>
            <a:pPr algn="l">
              <a:lnSpc>
                <a:spcPts val="3779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212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3086100" y="5143500"/>
            <a:ext cx="8229600" cy="8229600"/>
          </a:xfrm>
          <a:custGeom>
            <a:avLst/>
            <a:gdLst/>
            <a:ahLst/>
            <a:cxnLst/>
            <a:rect r="r" b="b" t="t" l="l"/>
            <a:pathLst>
              <a:path h="8229600" w="8229600">
                <a:moveTo>
                  <a:pt x="0" y="0"/>
                </a:moveTo>
                <a:lnTo>
                  <a:pt x="8229600" y="0"/>
                </a:lnTo>
                <a:lnTo>
                  <a:pt x="8229600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5000"/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9276005" y="0"/>
            <a:ext cx="4510760" cy="10287000"/>
            <a:chOff x="0" y="0"/>
            <a:chExt cx="6014346" cy="13716000"/>
          </a:xfrm>
        </p:grpSpPr>
        <p:pic>
          <p:nvPicPr>
            <p:cNvPr name="Picture 4" id="4"/>
            <p:cNvPicPr>
              <a:picLocks noChangeAspect="true"/>
            </p:cNvPicPr>
            <p:nvPr/>
          </p:nvPicPr>
          <p:blipFill>
            <a:blip r:embed="rId3"/>
            <a:srcRect l="17154" t="0" r="17154" b="0"/>
            <a:stretch>
              <a:fillRect/>
            </a:stretch>
          </p:blipFill>
          <p:spPr>
            <a:xfrm flipH="false" flipV="false">
              <a:off x="0" y="0"/>
              <a:ext cx="6014346" cy="13716000"/>
            </a:xfrm>
            <a:prstGeom prst="rect">
              <a:avLst/>
            </a:prstGeom>
          </p:spPr>
        </p:pic>
      </p:grpSp>
      <p:grpSp>
        <p:nvGrpSpPr>
          <p:cNvPr name="Group 5" id="5"/>
          <p:cNvGrpSpPr/>
          <p:nvPr/>
        </p:nvGrpSpPr>
        <p:grpSpPr>
          <a:xfrm rot="0">
            <a:off x="13777240" y="0"/>
            <a:ext cx="4510760" cy="10287000"/>
            <a:chOff x="0" y="0"/>
            <a:chExt cx="6014346" cy="13716000"/>
          </a:xfrm>
        </p:grpSpPr>
        <p:pic>
          <p:nvPicPr>
            <p:cNvPr name="Picture 6" id="6"/>
            <p:cNvPicPr>
              <a:picLocks noChangeAspect="true"/>
            </p:cNvPicPr>
            <p:nvPr/>
          </p:nvPicPr>
          <p:blipFill>
            <a:blip r:embed="rId4"/>
            <a:srcRect l="47363" t="0" r="23422" b="0"/>
            <a:stretch>
              <a:fillRect/>
            </a:stretch>
          </p:blipFill>
          <p:spPr>
            <a:xfrm flipH="false" flipV="false">
              <a:off x="0" y="0"/>
              <a:ext cx="6014346" cy="13716000"/>
            </a:xfrm>
            <a:prstGeom prst="rect">
              <a:avLst/>
            </a:prstGeom>
          </p:spPr>
        </p:pic>
      </p:grpSp>
      <p:grpSp>
        <p:nvGrpSpPr>
          <p:cNvPr name="Group 7" id="7"/>
          <p:cNvGrpSpPr/>
          <p:nvPr/>
        </p:nvGrpSpPr>
        <p:grpSpPr>
          <a:xfrm rot="0">
            <a:off x="519925" y="9502973"/>
            <a:ext cx="402082" cy="402082"/>
            <a:chOff x="0" y="0"/>
            <a:chExt cx="812800" cy="8128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ABDB2A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28575"/>
              <a:ext cx="812800" cy="8413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39"/>
                </a:lnSpc>
              </a:pPr>
            </a:p>
          </p:txBody>
        </p:sp>
      </p:grpSp>
      <p:sp>
        <p:nvSpPr>
          <p:cNvPr name="TextBox 10" id="10"/>
          <p:cNvSpPr txBox="true"/>
          <p:nvPr/>
        </p:nvSpPr>
        <p:spPr>
          <a:xfrm rot="0">
            <a:off x="1145500" y="9595504"/>
            <a:ext cx="1379782" cy="1981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1680"/>
              </a:lnSpc>
              <a:spcBef>
                <a:spcPct val="0"/>
              </a:spcBef>
            </a:pPr>
            <a:r>
              <a:rPr lang="en-US" sz="1200" spc="655">
                <a:solidFill>
                  <a:srgbClr val="FFFFFF"/>
                </a:solidFill>
                <a:latin typeface="Open Sans 2"/>
                <a:ea typeface="Open Sans 2"/>
                <a:cs typeface="Open Sans 2"/>
                <a:sym typeface="Open Sans 2"/>
              </a:rPr>
              <a:t>SLIDE 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519925" y="9595504"/>
            <a:ext cx="402082" cy="1981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80"/>
              </a:lnSpc>
              <a:spcBef>
                <a:spcPct val="0"/>
              </a:spcBef>
            </a:pPr>
            <a:r>
              <a:rPr lang="en-US" b="true" sz="1200">
                <a:solidFill>
                  <a:srgbClr val="121212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05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8752984" y="7168667"/>
            <a:ext cx="782032" cy="3118333"/>
            <a:chOff x="0" y="0"/>
            <a:chExt cx="556429" cy="2218746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556429" cy="2218746"/>
            </a:xfrm>
            <a:custGeom>
              <a:avLst/>
              <a:gdLst/>
              <a:ahLst/>
              <a:cxnLst/>
              <a:rect r="r" b="b" t="t" l="l"/>
              <a:pathLst>
                <a:path h="2218746" w="556429">
                  <a:moveTo>
                    <a:pt x="0" y="0"/>
                  </a:moveTo>
                  <a:lnTo>
                    <a:pt x="556429" y="0"/>
                  </a:lnTo>
                  <a:lnTo>
                    <a:pt x="556429" y="2218746"/>
                  </a:lnTo>
                  <a:lnTo>
                    <a:pt x="0" y="2218746"/>
                  </a:lnTo>
                  <a:close/>
                </a:path>
              </a:pathLst>
            </a:custGeom>
            <a:solidFill>
              <a:srgbClr val="ABDB2A">
                <a:alpha val="74902"/>
              </a:srgbClr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28575"/>
              <a:ext cx="556429" cy="224732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39"/>
                </a:lnSpc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3395749" y="0"/>
            <a:ext cx="782032" cy="3118333"/>
            <a:chOff x="0" y="0"/>
            <a:chExt cx="556429" cy="2218746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556429" cy="2218746"/>
            </a:xfrm>
            <a:custGeom>
              <a:avLst/>
              <a:gdLst/>
              <a:ahLst/>
              <a:cxnLst/>
              <a:rect r="r" b="b" t="t" l="l"/>
              <a:pathLst>
                <a:path h="2218746" w="556429">
                  <a:moveTo>
                    <a:pt x="0" y="0"/>
                  </a:moveTo>
                  <a:lnTo>
                    <a:pt x="556429" y="0"/>
                  </a:lnTo>
                  <a:lnTo>
                    <a:pt x="556429" y="2218746"/>
                  </a:lnTo>
                  <a:lnTo>
                    <a:pt x="0" y="2218746"/>
                  </a:lnTo>
                  <a:close/>
                </a:path>
              </a:pathLst>
            </a:custGeom>
            <a:solidFill>
              <a:srgbClr val="ABDB2A">
                <a:alpha val="74902"/>
              </a:srgbClr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28575"/>
              <a:ext cx="556429" cy="224732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39"/>
                </a:lnSpc>
              </a:pPr>
            </a:p>
          </p:txBody>
        </p:sp>
      </p:grpSp>
      <p:sp>
        <p:nvSpPr>
          <p:cNvPr name="TextBox 18" id="18"/>
          <p:cNvSpPr txBox="true"/>
          <p:nvPr/>
        </p:nvSpPr>
        <p:spPr>
          <a:xfrm rot="0">
            <a:off x="1835391" y="1809099"/>
            <a:ext cx="7144581" cy="1758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000"/>
              </a:lnSpc>
              <a:spcBef>
                <a:spcPct val="0"/>
              </a:spcBef>
            </a:pPr>
            <a:r>
              <a:rPr lang="en-US" sz="5000">
                <a:solidFill>
                  <a:srgbClr val="FFFFFF"/>
                </a:solidFill>
                <a:latin typeface="HK Modular"/>
                <a:ea typeface="HK Modular"/>
                <a:cs typeface="HK Modular"/>
                <a:sym typeface="HK Modular"/>
              </a:rPr>
              <a:t>FastAPI + OpenAI Demo</a:t>
            </a:r>
          </a:p>
        </p:txBody>
      </p:sp>
      <p:grpSp>
        <p:nvGrpSpPr>
          <p:cNvPr name="Group 19" id="19"/>
          <p:cNvGrpSpPr/>
          <p:nvPr/>
        </p:nvGrpSpPr>
        <p:grpSpPr>
          <a:xfrm rot="0">
            <a:off x="1835391" y="3869396"/>
            <a:ext cx="1618141" cy="99952"/>
            <a:chOff x="0" y="0"/>
            <a:chExt cx="1151334" cy="71118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151334" cy="71118"/>
            </a:xfrm>
            <a:custGeom>
              <a:avLst/>
              <a:gdLst/>
              <a:ahLst/>
              <a:cxnLst/>
              <a:rect r="r" b="b" t="t" l="l"/>
              <a:pathLst>
                <a:path h="71118" w="1151334">
                  <a:moveTo>
                    <a:pt x="0" y="0"/>
                  </a:moveTo>
                  <a:lnTo>
                    <a:pt x="1151334" y="0"/>
                  </a:lnTo>
                  <a:lnTo>
                    <a:pt x="1151334" y="71118"/>
                  </a:lnTo>
                  <a:lnTo>
                    <a:pt x="0" y="71118"/>
                  </a:lnTo>
                  <a:close/>
                </a:path>
              </a:pathLst>
            </a:custGeom>
            <a:solidFill>
              <a:srgbClr val="ABDB2A"/>
            </a:solid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28575"/>
              <a:ext cx="1151334" cy="9969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39"/>
                </a:lnSpc>
              </a:pPr>
            </a:p>
          </p:txBody>
        </p:sp>
      </p:grpSp>
      <p:sp>
        <p:nvSpPr>
          <p:cNvPr name="TextBox 22" id="22"/>
          <p:cNvSpPr txBox="true"/>
          <p:nvPr/>
        </p:nvSpPr>
        <p:spPr>
          <a:xfrm rot="0">
            <a:off x="1675704" y="4787694"/>
            <a:ext cx="6335826" cy="25552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26102" indent="-313051" lvl="1">
              <a:lnSpc>
                <a:spcPts val="4059"/>
              </a:lnSpc>
              <a:buFont typeface="Arial"/>
              <a:buChar char="•"/>
            </a:pPr>
            <a:r>
              <a:rPr lang="en-US" sz="2899">
                <a:solidFill>
                  <a:srgbClr val="FFFFFF"/>
                </a:solidFill>
                <a:latin typeface="Open Sans 1"/>
                <a:ea typeface="Open Sans 1"/>
                <a:cs typeface="Open Sans 1"/>
                <a:sym typeface="Open Sans 1"/>
              </a:rPr>
              <a:t>POST /summarize endpoint</a:t>
            </a:r>
          </a:p>
          <a:p>
            <a:pPr algn="l" marL="626102" indent="-313051" lvl="1">
              <a:lnSpc>
                <a:spcPts val="4059"/>
              </a:lnSpc>
              <a:buFont typeface="Arial"/>
              <a:buChar char="•"/>
            </a:pPr>
            <a:r>
              <a:rPr lang="en-US" sz="2899">
                <a:solidFill>
                  <a:srgbClr val="FFFFFF"/>
                </a:solidFill>
                <a:latin typeface="Open Sans 1"/>
                <a:ea typeface="Open Sans 1"/>
                <a:cs typeface="Open Sans 1"/>
                <a:sym typeface="Open Sans 1"/>
              </a:rPr>
              <a:t>GET /health endpoint</a:t>
            </a:r>
          </a:p>
          <a:p>
            <a:pPr algn="l" marL="626102" indent="-313051" lvl="1">
              <a:lnSpc>
                <a:spcPts val="4059"/>
              </a:lnSpc>
              <a:buFont typeface="Arial"/>
              <a:buChar char="•"/>
            </a:pPr>
            <a:r>
              <a:rPr lang="en-US" sz="2899">
                <a:solidFill>
                  <a:srgbClr val="FFFFFF"/>
                </a:solidFill>
                <a:latin typeface="Open Sans 1"/>
                <a:ea typeface="Open Sans 1"/>
                <a:cs typeface="Open Sans 1"/>
                <a:sym typeface="Open Sans 1"/>
              </a:rPr>
              <a:t>API key management via .env</a:t>
            </a:r>
          </a:p>
          <a:p>
            <a:pPr algn="l" marL="626102" indent="-313051" lvl="1">
              <a:lnSpc>
                <a:spcPts val="4059"/>
              </a:lnSpc>
              <a:buFont typeface="Arial"/>
              <a:buChar char="•"/>
            </a:pPr>
            <a:r>
              <a:rPr lang="en-US" sz="2899">
                <a:solidFill>
                  <a:srgbClr val="FFFFFF"/>
                </a:solidFill>
                <a:latin typeface="Open Sans 1"/>
                <a:ea typeface="Open Sans 1"/>
                <a:cs typeface="Open Sans 1"/>
                <a:sym typeface="Open Sans 1"/>
              </a:rPr>
              <a:t>Deployment → Render</a:t>
            </a:r>
          </a:p>
          <a:p>
            <a:pPr algn="l">
              <a:lnSpc>
                <a:spcPts val="4059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212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3086100" y="5143500"/>
            <a:ext cx="8229600" cy="8229600"/>
          </a:xfrm>
          <a:custGeom>
            <a:avLst/>
            <a:gdLst/>
            <a:ahLst/>
            <a:cxnLst/>
            <a:rect r="r" b="b" t="t" l="l"/>
            <a:pathLst>
              <a:path h="8229600" w="8229600">
                <a:moveTo>
                  <a:pt x="0" y="0"/>
                </a:moveTo>
                <a:lnTo>
                  <a:pt x="8229600" y="0"/>
                </a:lnTo>
                <a:lnTo>
                  <a:pt x="8229600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5000"/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3144500" y="-3086100"/>
            <a:ext cx="8229600" cy="8229600"/>
          </a:xfrm>
          <a:custGeom>
            <a:avLst/>
            <a:gdLst/>
            <a:ahLst/>
            <a:cxnLst/>
            <a:rect r="r" b="b" t="t" l="l"/>
            <a:pathLst>
              <a:path h="8229600" w="8229600">
                <a:moveTo>
                  <a:pt x="0" y="0"/>
                </a:moveTo>
                <a:lnTo>
                  <a:pt x="8229600" y="0"/>
                </a:lnTo>
                <a:lnTo>
                  <a:pt x="8229600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5000"/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17488106" y="9502973"/>
            <a:ext cx="402082" cy="402082"/>
            <a:chOff x="0" y="0"/>
            <a:chExt cx="812800" cy="8128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ABDB2A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28575"/>
              <a:ext cx="812800" cy="8413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39"/>
                </a:lnSpc>
              </a:pPr>
            </a:p>
          </p:txBody>
        </p:sp>
      </p:grpSp>
      <p:sp>
        <p:nvSpPr>
          <p:cNvPr name="Freeform 7" id="7"/>
          <p:cNvSpPr/>
          <p:nvPr/>
        </p:nvSpPr>
        <p:spPr>
          <a:xfrm flipH="false" flipV="false" rot="0">
            <a:off x="8595832" y="3558466"/>
            <a:ext cx="5303629" cy="3420841"/>
          </a:xfrm>
          <a:custGeom>
            <a:avLst/>
            <a:gdLst/>
            <a:ahLst/>
            <a:cxnLst/>
            <a:rect r="r" b="b" t="t" l="l"/>
            <a:pathLst>
              <a:path h="3420841" w="5303629">
                <a:moveTo>
                  <a:pt x="0" y="0"/>
                </a:moveTo>
                <a:lnTo>
                  <a:pt x="5303630" y="0"/>
                </a:lnTo>
                <a:lnTo>
                  <a:pt x="5303630" y="3420841"/>
                </a:lnTo>
                <a:lnTo>
                  <a:pt x="0" y="342084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8" id="8"/>
          <p:cNvGrpSpPr/>
          <p:nvPr/>
        </p:nvGrpSpPr>
        <p:grpSpPr>
          <a:xfrm rot="0">
            <a:off x="9253175" y="3715082"/>
            <a:ext cx="3889407" cy="2470505"/>
            <a:chOff x="0" y="0"/>
            <a:chExt cx="5185876" cy="3294007"/>
          </a:xfrm>
        </p:grpSpPr>
        <p:pic>
          <p:nvPicPr>
            <p:cNvPr name="Picture 9" id="9"/>
            <p:cNvPicPr>
              <a:picLocks noChangeAspect="true"/>
            </p:cNvPicPr>
            <p:nvPr/>
          </p:nvPicPr>
          <p:blipFill>
            <a:blip r:embed="rId5"/>
            <a:srcRect l="0" t="2331" r="0" b="2331"/>
            <a:stretch>
              <a:fillRect/>
            </a:stretch>
          </p:blipFill>
          <p:spPr>
            <a:xfrm flipH="false" flipV="false">
              <a:off x="0" y="0"/>
              <a:ext cx="5185876" cy="3294007"/>
            </a:xfrm>
            <a:prstGeom prst="rect">
              <a:avLst/>
            </a:prstGeom>
          </p:spPr>
        </p:pic>
      </p:grpSp>
      <p:grpSp>
        <p:nvGrpSpPr>
          <p:cNvPr name="Group 10" id="10"/>
          <p:cNvGrpSpPr/>
          <p:nvPr/>
        </p:nvGrpSpPr>
        <p:grpSpPr>
          <a:xfrm rot="0">
            <a:off x="8334929" y="2834302"/>
            <a:ext cx="1618141" cy="99952"/>
            <a:chOff x="0" y="0"/>
            <a:chExt cx="1151334" cy="71118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151334" cy="71118"/>
            </a:xfrm>
            <a:custGeom>
              <a:avLst/>
              <a:gdLst/>
              <a:ahLst/>
              <a:cxnLst/>
              <a:rect r="r" b="b" t="t" l="l"/>
              <a:pathLst>
                <a:path h="71118" w="1151334">
                  <a:moveTo>
                    <a:pt x="0" y="0"/>
                  </a:moveTo>
                  <a:lnTo>
                    <a:pt x="1151334" y="0"/>
                  </a:lnTo>
                  <a:lnTo>
                    <a:pt x="1151334" y="71118"/>
                  </a:lnTo>
                  <a:lnTo>
                    <a:pt x="0" y="71118"/>
                  </a:lnTo>
                  <a:close/>
                </a:path>
              </a:pathLst>
            </a:custGeom>
            <a:solidFill>
              <a:srgbClr val="ABDB2A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28575"/>
              <a:ext cx="1151334" cy="9969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39"/>
                </a:lnSpc>
              </a:pPr>
            </a:p>
          </p:txBody>
        </p:sp>
      </p:grpSp>
      <p:sp>
        <p:nvSpPr>
          <p:cNvPr name="TextBox 13" id="13"/>
          <p:cNvSpPr txBox="true"/>
          <p:nvPr/>
        </p:nvSpPr>
        <p:spPr>
          <a:xfrm rot="0">
            <a:off x="16030399" y="9595504"/>
            <a:ext cx="1379782" cy="1981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680"/>
              </a:lnSpc>
              <a:spcBef>
                <a:spcPct val="0"/>
              </a:spcBef>
            </a:pPr>
            <a:r>
              <a:rPr lang="en-US" sz="1200" spc="655">
                <a:solidFill>
                  <a:srgbClr val="FFFFFF"/>
                </a:solidFill>
                <a:latin typeface="Open Sans 2"/>
                <a:ea typeface="Open Sans 2"/>
                <a:cs typeface="Open Sans 2"/>
                <a:sym typeface="Open Sans 2"/>
              </a:rPr>
              <a:t>SLIDE 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7488106" y="9595504"/>
            <a:ext cx="402082" cy="1981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80"/>
              </a:lnSpc>
              <a:spcBef>
                <a:spcPct val="0"/>
              </a:spcBef>
            </a:pPr>
            <a:r>
              <a:rPr lang="en-US" b="true" sz="1200">
                <a:solidFill>
                  <a:srgbClr val="121212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06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4598379" y="4337783"/>
            <a:ext cx="3997453" cy="3639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037"/>
              </a:lnSpc>
              <a:spcBef>
                <a:spcPct val="0"/>
              </a:spcBef>
            </a:pPr>
            <a:r>
              <a:rPr lang="en-US" sz="2169">
                <a:solidFill>
                  <a:srgbClr val="FFFFFF"/>
                </a:solidFill>
                <a:latin typeface="Open Sans 1"/>
                <a:ea typeface="Open Sans 1"/>
                <a:cs typeface="Open Sans 1"/>
                <a:sym typeface="Open Sans 1"/>
              </a:rPr>
              <a:t>m.me/arbinbulai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5549943" y="3573737"/>
            <a:ext cx="3997453" cy="3639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37"/>
              </a:lnSpc>
              <a:spcBef>
                <a:spcPct val="0"/>
              </a:spcBef>
            </a:pPr>
            <a:r>
              <a:rPr lang="en-US" sz="2169">
                <a:solidFill>
                  <a:srgbClr val="FFFFFF"/>
                </a:solidFill>
                <a:latin typeface="Open Sans 1"/>
                <a:ea typeface="Open Sans 1"/>
                <a:cs typeface="Open Sans 1"/>
                <a:sym typeface="Open Sans 1"/>
              </a:rPr>
              <a:t>arbin.bulay@gmail.com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2257601" y="1727137"/>
            <a:ext cx="13772798" cy="873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000"/>
              </a:lnSpc>
              <a:spcBef>
                <a:spcPct val="0"/>
              </a:spcBef>
            </a:pPr>
            <a:r>
              <a:rPr lang="en-US" sz="5000">
                <a:solidFill>
                  <a:srgbClr val="FFFFFF"/>
                </a:solidFill>
                <a:latin typeface="HK Modular"/>
                <a:ea typeface="HK Modular"/>
                <a:cs typeface="HK Modular"/>
                <a:sym typeface="HK Modular"/>
              </a:rPr>
              <a:t>Contact Information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3132347" y="5230787"/>
            <a:ext cx="5603431" cy="3639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037"/>
              </a:lnSpc>
              <a:spcBef>
                <a:spcPct val="0"/>
              </a:spcBef>
            </a:pPr>
            <a:r>
              <a:rPr lang="en-US" sz="2169">
                <a:solidFill>
                  <a:srgbClr val="FFFFFF"/>
                </a:solidFill>
                <a:latin typeface="Open Sans 1"/>
                <a:ea typeface="Open Sans 1"/>
                <a:cs typeface="Open Sans 1"/>
                <a:sym typeface="Open Sans 1"/>
              </a:rPr>
              <a:t>https://ph.linkedin.com/in/arbinbulaybulay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212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3086100" y="5143500"/>
            <a:ext cx="8229600" cy="8229600"/>
          </a:xfrm>
          <a:custGeom>
            <a:avLst/>
            <a:gdLst/>
            <a:ahLst/>
            <a:cxnLst/>
            <a:rect r="r" b="b" t="t" l="l"/>
            <a:pathLst>
              <a:path h="8229600" w="8229600">
                <a:moveTo>
                  <a:pt x="0" y="0"/>
                </a:moveTo>
                <a:lnTo>
                  <a:pt x="8229600" y="0"/>
                </a:lnTo>
                <a:lnTo>
                  <a:pt x="8229600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5000"/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3144500" y="-3086100"/>
            <a:ext cx="8229600" cy="8229600"/>
          </a:xfrm>
          <a:custGeom>
            <a:avLst/>
            <a:gdLst/>
            <a:ahLst/>
            <a:cxnLst/>
            <a:rect r="r" b="b" t="t" l="l"/>
            <a:pathLst>
              <a:path h="8229600" w="8229600">
                <a:moveTo>
                  <a:pt x="0" y="0"/>
                </a:moveTo>
                <a:lnTo>
                  <a:pt x="8229600" y="0"/>
                </a:lnTo>
                <a:lnTo>
                  <a:pt x="8229600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5000"/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0" y="2409315"/>
            <a:ext cx="18288000" cy="5468370"/>
            <a:chOff x="0" y="0"/>
            <a:chExt cx="24384000" cy="7291160"/>
          </a:xfrm>
        </p:grpSpPr>
        <p:pic>
          <p:nvPicPr>
            <p:cNvPr name="Picture 5" id="5"/>
            <p:cNvPicPr>
              <a:picLocks noChangeAspect="true"/>
            </p:cNvPicPr>
            <p:nvPr/>
          </p:nvPicPr>
          <p:blipFill>
            <a:blip r:embed="rId3"/>
            <a:srcRect l="0" t="18891" r="0" b="36227"/>
            <a:stretch>
              <a:fillRect/>
            </a:stretch>
          </p:blipFill>
          <p:spPr>
            <a:xfrm flipH="false" flipV="false">
              <a:off x="0" y="0"/>
              <a:ext cx="24384000" cy="7291160"/>
            </a:xfrm>
            <a:prstGeom prst="rect">
              <a:avLst/>
            </a:prstGeom>
          </p:spPr>
        </p:pic>
      </p:grpSp>
      <p:grpSp>
        <p:nvGrpSpPr>
          <p:cNvPr name="Group 6" id="6"/>
          <p:cNvGrpSpPr/>
          <p:nvPr/>
        </p:nvGrpSpPr>
        <p:grpSpPr>
          <a:xfrm rot="0">
            <a:off x="2126403" y="3511440"/>
            <a:ext cx="14035194" cy="3264119"/>
            <a:chOff x="0" y="0"/>
            <a:chExt cx="3448420" cy="801988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3448421" cy="801988"/>
            </a:xfrm>
            <a:custGeom>
              <a:avLst/>
              <a:gdLst/>
              <a:ahLst/>
              <a:cxnLst/>
              <a:rect r="r" b="b" t="t" l="l"/>
              <a:pathLst>
                <a:path h="801988" w="3448421">
                  <a:moveTo>
                    <a:pt x="0" y="0"/>
                  </a:moveTo>
                  <a:lnTo>
                    <a:pt x="3448421" y="0"/>
                  </a:lnTo>
                  <a:lnTo>
                    <a:pt x="3448421" y="801988"/>
                  </a:lnTo>
                  <a:lnTo>
                    <a:pt x="0" y="801988"/>
                  </a:lnTo>
                  <a:close/>
                </a:path>
              </a:pathLst>
            </a:custGeom>
            <a:solidFill>
              <a:srgbClr val="ABDB2A">
                <a:alpha val="89804"/>
              </a:srgbClr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28575"/>
              <a:ext cx="3448420" cy="83056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39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7488106" y="9502973"/>
            <a:ext cx="402082" cy="402082"/>
            <a:chOff x="0" y="0"/>
            <a:chExt cx="812800" cy="8128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ABDB2A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28575"/>
              <a:ext cx="812800" cy="8413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39"/>
                </a:lnSpc>
              </a:pPr>
            </a:p>
          </p:txBody>
        </p:sp>
      </p:grpSp>
      <p:sp>
        <p:nvSpPr>
          <p:cNvPr name="TextBox 12" id="12"/>
          <p:cNvSpPr txBox="true"/>
          <p:nvPr/>
        </p:nvSpPr>
        <p:spPr>
          <a:xfrm rot="0">
            <a:off x="16030399" y="9595504"/>
            <a:ext cx="1379782" cy="1981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680"/>
              </a:lnSpc>
              <a:spcBef>
                <a:spcPct val="0"/>
              </a:spcBef>
            </a:pPr>
            <a:r>
              <a:rPr lang="en-US" sz="1200" spc="655">
                <a:solidFill>
                  <a:srgbClr val="FFFFFF"/>
                </a:solidFill>
                <a:latin typeface="Open Sans 2"/>
                <a:ea typeface="Open Sans 2"/>
                <a:cs typeface="Open Sans 2"/>
                <a:sym typeface="Open Sans 2"/>
              </a:rPr>
              <a:t>SLIDE 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7488106" y="9595504"/>
            <a:ext cx="402082" cy="1981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80"/>
              </a:lnSpc>
              <a:spcBef>
                <a:spcPct val="0"/>
              </a:spcBef>
            </a:pPr>
            <a:r>
              <a:rPr lang="en-US" b="true" sz="1200">
                <a:solidFill>
                  <a:srgbClr val="121212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07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2126403" y="3835793"/>
            <a:ext cx="14035194" cy="19995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307"/>
              </a:lnSpc>
              <a:spcBef>
                <a:spcPct val="0"/>
              </a:spcBef>
            </a:pPr>
            <a:r>
              <a:rPr lang="en-US" sz="11648">
                <a:solidFill>
                  <a:srgbClr val="121212"/>
                </a:solidFill>
                <a:latin typeface="HK Modular"/>
                <a:ea typeface="HK Modular"/>
                <a:cs typeface="HK Modular"/>
                <a:sym typeface="HK Modular"/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DAG0cG2HE9I</dc:identifier>
  <dcterms:modified xsi:type="dcterms:W3CDTF">2011-08-01T06:04:30Z</dcterms:modified>
  <cp:revision>1</cp:revision>
  <dc:title>Black Green Tech Programmer Presentation</dc:title>
</cp:coreProperties>
</file>